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8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her Ambali" userId="c5a117925ebeaed9" providerId="LiveId" clId="{311CAF48-D987-4906-9808-F40D33B3E753}"/>
    <pc:docChg chg="undo redo custSel addSld delSld modSld sldOrd">
      <pc:chgData name="Esther Ambali" userId="c5a117925ebeaed9" providerId="LiveId" clId="{311CAF48-D987-4906-9808-F40D33B3E753}" dt="2026-01-11T18:37:44.012" v="567" actId="2696"/>
      <pc:docMkLst>
        <pc:docMk/>
      </pc:docMkLst>
      <pc:sldChg chg="delSp modSp del mod">
        <pc:chgData name="Esther Ambali" userId="c5a117925ebeaed9" providerId="LiveId" clId="{311CAF48-D987-4906-9808-F40D33B3E753}" dt="2026-01-11T18:37:44.012" v="567" actId="2696"/>
        <pc:sldMkLst>
          <pc:docMk/>
          <pc:sldMk cId="1273061796" sldId="257"/>
        </pc:sldMkLst>
        <pc:spChg chg="mod">
          <ac:chgData name="Esther Ambali" userId="c5a117925ebeaed9" providerId="LiveId" clId="{311CAF48-D987-4906-9808-F40D33B3E753}" dt="2026-01-11T15:11:04.798" v="0" actId="1076"/>
          <ac:spMkLst>
            <pc:docMk/>
            <pc:sldMk cId="1273061796" sldId="257"/>
            <ac:spMk id="2" creationId="{0FD16DDD-09F2-4870-A32B-434D02E9A8F6}"/>
          </ac:spMkLst>
        </pc:spChg>
        <pc:spChg chg="mod">
          <ac:chgData name="Esther Ambali" userId="c5a117925ebeaed9" providerId="LiveId" clId="{311CAF48-D987-4906-9808-F40D33B3E753}" dt="2026-01-11T17:55:45.476" v="51" actId="20577"/>
          <ac:spMkLst>
            <pc:docMk/>
            <pc:sldMk cId="1273061796" sldId="257"/>
            <ac:spMk id="3" creationId="{DA016C64-B6AF-411B-AFC1-B27A814DB00F}"/>
          </ac:spMkLst>
        </pc:spChg>
        <pc:picChg chg="del">
          <ac:chgData name="Esther Ambali" userId="c5a117925ebeaed9" providerId="LiveId" clId="{311CAF48-D987-4906-9808-F40D33B3E753}" dt="2026-01-11T18:37:12.438" v="566"/>
          <ac:picMkLst>
            <pc:docMk/>
            <pc:sldMk cId="1273061796" sldId="257"/>
            <ac:picMk id="4" creationId="{2C49E403-DCE1-4B32-821B-347FA74B0984}"/>
          </ac:picMkLst>
        </pc:picChg>
      </pc:sldChg>
      <pc:sldChg chg="addSp modSp mod">
        <pc:chgData name="Esther Ambali" userId="c5a117925ebeaed9" providerId="LiveId" clId="{311CAF48-D987-4906-9808-F40D33B3E753}" dt="2026-01-11T18:02:12.439" v="114" actId="207"/>
        <pc:sldMkLst>
          <pc:docMk/>
          <pc:sldMk cId="1843569240" sldId="258"/>
        </pc:sldMkLst>
        <pc:spChg chg="add mod">
          <ac:chgData name="Esther Ambali" userId="c5a117925ebeaed9" providerId="LiveId" clId="{311CAF48-D987-4906-9808-F40D33B3E753}" dt="2026-01-11T18:02:12.439" v="114" actId="207"/>
          <ac:spMkLst>
            <pc:docMk/>
            <pc:sldMk cId="1843569240" sldId="258"/>
            <ac:spMk id="2" creationId="{3DA51B91-34E9-4B03-BF3C-C402EB8D2413}"/>
          </ac:spMkLst>
        </pc:spChg>
      </pc:sldChg>
      <pc:sldChg chg="modSp new mod ord">
        <pc:chgData name="Esther Ambali" userId="c5a117925ebeaed9" providerId="LiveId" clId="{311CAF48-D987-4906-9808-F40D33B3E753}" dt="2026-01-11T18:25:52.694" v="515" actId="20577"/>
        <pc:sldMkLst>
          <pc:docMk/>
          <pc:sldMk cId="2816676619" sldId="259"/>
        </pc:sldMkLst>
        <pc:spChg chg="mod">
          <ac:chgData name="Esther Ambali" userId="c5a117925ebeaed9" providerId="LiveId" clId="{311CAF48-D987-4906-9808-F40D33B3E753}" dt="2026-01-11T18:15:01.229" v="256" actId="113"/>
          <ac:spMkLst>
            <pc:docMk/>
            <pc:sldMk cId="2816676619" sldId="259"/>
            <ac:spMk id="2" creationId="{227D6805-9074-4F04-819F-DCC8751389FA}"/>
          </ac:spMkLst>
        </pc:spChg>
        <pc:spChg chg="mod">
          <ac:chgData name="Esther Ambali" userId="c5a117925ebeaed9" providerId="LiveId" clId="{311CAF48-D987-4906-9808-F40D33B3E753}" dt="2026-01-11T18:25:52.694" v="515" actId="20577"/>
          <ac:spMkLst>
            <pc:docMk/>
            <pc:sldMk cId="2816676619" sldId="259"/>
            <ac:spMk id="3" creationId="{9C2656C9-CE57-41E5-882D-6D6BBA6EA9F3}"/>
          </ac:spMkLst>
        </pc:spChg>
      </pc:sldChg>
      <pc:sldChg chg="add del">
        <pc:chgData name="Esther Ambali" userId="c5a117925ebeaed9" providerId="LiveId" clId="{311CAF48-D987-4906-9808-F40D33B3E753}" dt="2026-01-11T18:02:59.366" v="119"/>
        <pc:sldMkLst>
          <pc:docMk/>
          <pc:sldMk cId="399249617" sldId="260"/>
        </pc:sldMkLst>
      </pc:sldChg>
      <pc:sldChg chg="modSp new mod">
        <pc:chgData name="Esther Ambali" userId="c5a117925ebeaed9" providerId="LiveId" clId="{311CAF48-D987-4906-9808-F40D33B3E753}" dt="2026-01-11T18:28:05.902" v="552" actId="113"/>
        <pc:sldMkLst>
          <pc:docMk/>
          <pc:sldMk cId="1298914768" sldId="260"/>
        </pc:sldMkLst>
        <pc:spChg chg="mod">
          <ac:chgData name="Esther Ambali" userId="c5a117925ebeaed9" providerId="LiveId" clId="{311CAF48-D987-4906-9808-F40D33B3E753}" dt="2026-01-11T18:28:05.902" v="552" actId="113"/>
          <ac:spMkLst>
            <pc:docMk/>
            <pc:sldMk cId="1298914768" sldId="260"/>
            <ac:spMk id="2" creationId="{251225EB-1A8A-41E7-BE6E-7569EEB8C131}"/>
          </ac:spMkLst>
        </pc:spChg>
        <pc:spChg chg="mod">
          <ac:chgData name="Esther Ambali" userId="c5a117925ebeaed9" providerId="LiveId" clId="{311CAF48-D987-4906-9808-F40D33B3E753}" dt="2026-01-11T18:26:42.738" v="525" actId="27636"/>
          <ac:spMkLst>
            <pc:docMk/>
            <pc:sldMk cId="1298914768" sldId="260"/>
            <ac:spMk id="3" creationId="{F399CF22-0435-4E83-8E21-03B100A3F584}"/>
          </ac:spMkLst>
        </pc:spChg>
      </pc:sldChg>
      <pc:sldChg chg="addSp modSp new mod">
        <pc:chgData name="Esther Ambali" userId="c5a117925ebeaed9" providerId="LiveId" clId="{311CAF48-D987-4906-9808-F40D33B3E753}" dt="2026-01-11T18:35:55.835" v="565" actId="207"/>
        <pc:sldMkLst>
          <pc:docMk/>
          <pc:sldMk cId="626476987" sldId="261"/>
        </pc:sldMkLst>
        <pc:spChg chg="mod">
          <ac:chgData name="Esther Ambali" userId="c5a117925ebeaed9" providerId="LiveId" clId="{311CAF48-D987-4906-9808-F40D33B3E753}" dt="2026-01-11T18:28:14.758" v="555" actId="20577"/>
          <ac:spMkLst>
            <pc:docMk/>
            <pc:sldMk cId="626476987" sldId="261"/>
            <ac:spMk id="2" creationId="{FF148489-8FBC-4048-B893-E03E34E9A078}"/>
          </ac:spMkLst>
        </pc:spChg>
        <pc:spChg chg="mod">
          <ac:chgData name="Esther Ambali" userId="c5a117925ebeaed9" providerId="LiveId" clId="{311CAF48-D987-4906-9808-F40D33B3E753}" dt="2026-01-11T18:28:38.829" v="557" actId="14100"/>
          <ac:spMkLst>
            <pc:docMk/>
            <pc:sldMk cId="626476987" sldId="261"/>
            <ac:spMk id="3" creationId="{FAA69504-46CA-4AE2-B456-D6D3E44CECFA}"/>
          </ac:spMkLst>
        </pc:spChg>
        <pc:spChg chg="add mod">
          <ac:chgData name="Esther Ambali" userId="c5a117925ebeaed9" providerId="LiveId" clId="{311CAF48-D987-4906-9808-F40D33B3E753}" dt="2026-01-11T18:33:40.086" v="561" actId="1076"/>
          <ac:spMkLst>
            <pc:docMk/>
            <pc:sldMk cId="626476987" sldId="261"/>
            <ac:spMk id="4" creationId="{F5258A5D-640A-48B4-9D22-C8056F3634A1}"/>
          </ac:spMkLst>
        </pc:spChg>
        <pc:spChg chg="add mod">
          <ac:chgData name="Esther Ambali" userId="c5a117925ebeaed9" providerId="LiveId" clId="{311CAF48-D987-4906-9808-F40D33B3E753}" dt="2026-01-11T18:33:55.706" v="562" actId="207"/>
          <ac:spMkLst>
            <pc:docMk/>
            <pc:sldMk cId="626476987" sldId="261"/>
            <ac:spMk id="5" creationId="{59D6AD4A-4037-4F7B-B1F9-50E2DF7AF833}"/>
          </ac:spMkLst>
        </pc:spChg>
        <pc:spChg chg="add mod">
          <ac:chgData name="Esther Ambali" userId="c5a117925ebeaed9" providerId="LiveId" clId="{311CAF48-D987-4906-9808-F40D33B3E753}" dt="2026-01-11T18:35:55.835" v="565" actId="207"/>
          <ac:spMkLst>
            <pc:docMk/>
            <pc:sldMk cId="626476987" sldId="261"/>
            <ac:spMk id="6" creationId="{602C1DF3-9083-4F60-84ED-45886B130C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0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51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5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1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9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9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6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6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4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42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1121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83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64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45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59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7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EC392-63DE-41B3-B6B3-6A65D842B688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0E17D-3668-4AC9-846A-4848B5970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248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1FE897-82EC-4B95-922B-857DCAC005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 pressure="2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099" t="21622" r="-488" b="21622"/>
          <a:stretch/>
        </p:blipFill>
        <p:spPr>
          <a:xfrm>
            <a:off x="208670" y="239150"/>
            <a:ext cx="11704320" cy="3840482"/>
          </a:xfrm>
          <a:prstGeom prst="rect">
            <a:avLst/>
          </a:prstGeom>
          <a:ln w="0">
            <a:solidFill>
              <a:schemeClr val="tx1"/>
            </a:solidFill>
          </a:ln>
          <a:effectLst>
            <a:reflection endPos="65000" dist="50800" dir="5400000" sy="-100000" algn="bl" rotWithShape="0"/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6AA77A-06AB-4011-8EF4-3604950A8307}"/>
              </a:ext>
            </a:extLst>
          </p:cNvPr>
          <p:cNvSpPr txBox="1"/>
          <p:nvPr/>
        </p:nvSpPr>
        <p:spPr>
          <a:xfrm>
            <a:off x="7397262" y="239150"/>
            <a:ext cx="4586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Report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51B91-34E9-4B03-BF3C-C402EB8D2413}"/>
              </a:ext>
            </a:extLst>
          </p:cNvPr>
          <p:cNvSpPr txBox="1"/>
          <p:nvPr/>
        </p:nvSpPr>
        <p:spPr>
          <a:xfrm>
            <a:off x="3601329" y="6020972"/>
            <a:ext cx="5401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 Excel and Power BI</a:t>
            </a:r>
          </a:p>
        </p:txBody>
      </p:sp>
    </p:spTree>
    <p:extLst>
      <p:ext uri="{BB962C8B-B14F-4D97-AF65-F5344CB8AC3E}">
        <p14:creationId xmlns:p14="http://schemas.microsoft.com/office/powerpoint/2010/main" val="184356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6805-9074-4F04-819F-DCC87513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56C9-CE57-41E5-882D-6D6BBA6E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32212"/>
            <a:ext cx="9613861" cy="420892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Objective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KPIs (Calculations and Explanation)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Dashboard: Excel, Power BI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Inferences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Solutions </a:t>
            </a:r>
          </a:p>
        </p:txBody>
      </p:sp>
    </p:spTree>
    <p:extLst>
      <p:ext uri="{BB962C8B-B14F-4D97-AF65-F5344CB8AC3E}">
        <p14:creationId xmlns:p14="http://schemas.microsoft.com/office/powerpoint/2010/main" val="281667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225EB-1A8A-41E7-BE6E-7569EEB8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9CF22-0435-4E83-8E21-03B100A3F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542" y="2210263"/>
            <a:ext cx="10798916" cy="4246807"/>
          </a:xfrm>
          <a:effectLst/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70000"/>
              </a:lnSpc>
            </a:pP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India company that provides ultra-fast delivery of groceries and everyday essentials within minutes.</a:t>
            </a:r>
          </a:p>
          <a:p>
            <a:pPr>
              <a:lnSpc>
                <a:spcPct val="170000"/>
              </a:lnSpc>
            </a:pP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7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conduct a comprehensive analysis of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Blinkit's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performance, customer satisfaction, and inventory distribution to identify key insights and opportunities for optimization using various KPIs and visualizations in Power BI and Excel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914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D904-0FB5-47E4-9302-DFDE56BD9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67FA7-A391-4E0B-8E3C-EE4EE2E76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10067396" cy="407799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Sales = SUM 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(Sales)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Average Sales = AVERAGE 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Data'[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(Sales)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Items = COUNT DISTINCT 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Data'[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(Item Identifier)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= AVERAGE 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Data'[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(Rating)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Outlet Age = 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Grocery Data'[Outlet Establishment Year] - 2011</a:t>
            </a:r>
          </a:p>
          <a:p>
            <a:pPr>
              <a:lnSpc>
                <a:spcPct val="150000"/>
              </a:lnSpc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38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489-8FBC-4048-B893-E03E34E9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258A5D-640A-48B4-9D22-C8056F3634A1}"/>
              </a:ext>
            </a:extLst>
          </p:cNvPr>
          <p:cNvSpPr/>
          <p:nvPr/>
        </p:nvSpPr>
        <p:spPr>
          <a:xfrm>
            <a:off x="10025529" y="2378627"/>
            <a:ext cx="1982722" cy="821046"/>
          </a:xfrm>
          <a:prstGeom prst="roundRect">
            <a:avLst>
              <a:gd name="adj" fmla="val 50000"/>
            </a:avLst>
          </a:prstGeom>
          <a:solidFill>
            <a:srgbClr val="010A26"/>
          </a:solidFill>
          <a:ln w="31750">
            <a:solidFill>
              <a:srgbClr val="B6D6F2"/>
            </a:solidFill>
          </a:ln>
          <a:effectLst>
            <a:outerShdw blurRad="50800" dist="50800" dir="5400000" algn="ctr" rotWithShape="0">
              <a:srgbClr val="010A2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/>
          </a:p>
        </p:txBody>
      </p:sp>
      <p:sp>
        <p:nvSpPr>
          <p:cNvPr id="8" name="TextBox 58">
            <a:extLst>
              <a:ext uri="{FF2B5EF4-FFF2-40B4-BE49-F238E27FC236}">
                <a16:creationId xmlns:a16="http://schemas.microsoft.com/office/drawing/2014/main" id="{59D6AD4A-4037-4F7B-B1F9-50E2DF7AF833}"/>
              </a:ext>
            </a:extLst>
          </p:cNvPr>
          <p:cNvSpPr txBox="1"/>
          <p:nvPr/>
        </p:nvSpPr>
        <p:spPr>
          <a:xfrm>
            <a:off x="10294182" y="2415262"/>
            <a:ext cx="1375036" cy="27871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</a:p>
        </p:txBody>
      </p:sp>
      <p:sp>
        <p:nvSpPr>
          <p:cNvPr id="9" name="TextBox 59">
            <a:extLst>
              <a:ext uri="{FF2B5EF4-FFF2-40B4-BE49-F238E27FC236}">
                <a16:creationId xmlns:a16="http://schemas.microsoft.com/office/drawing/2014/main" id="{602C1DF3-9083-4F60-84ED-45886B130C0C}"/>
              </a:ext>
            </a:extLst>
          </p:cNvPr>
          <p:cNvSpPr txBox="1"/>
          <p:nvPr/>
        </p:nvSpPr>
        <p:spPr>
          <a:xfrm>
            <a:off x="10271771" y="2705178"/>
            <a:ext cx="1436486" cy="42867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007D4B6-51FC-496A-A425-64535A12B400}" type="TxLink">
              <a:rPr lang="en-US" sz="1800" b="1" i="0" u="none" strike="noStrike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₹ 1,201,686</a:t>
            </a:fld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BEBECA-DB9C-440A-B993-3071C62826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5424" y="2413983"/>
            <a:ext cx="9430112" cy="378565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recorded total sales of approximately INR 1.2 million, indicating a strong overall revenue performance within the period under review.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 reflect stable customer spending behavior.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items sold highlights active demand.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suggests consistent customer satisfaction across the platform.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A3DD1B-2E7E-41D9-8604-A79AE9040606}"/>
              </a:ext>
            </a:extLst>
          </p:cNvPr>
          <p:cNvSpPr/>
          <p:nvPr/>
        </p:nvSpPr>
        <p:spPr>
          <a:xfrm>
            <a:off x="10025529" y="3397393"/>
            <a:ext cx="1982723" cy="821046"/>
          </a:xfrm>
          <a:prstGeom prst="roundRect">
            <a:avLst>
              <a:gd name="adj" fmla="val 50000"/>
            </a:avLst>
          </a:prstGeom>
          <a:solidFill>
            <a:srgbClr val="010A26"/>
          </a:solidFill>
          <a:ln w="31750">
            <a:solidFill>
              <a:srgbClr val="B6D6F2"/>
            </a:solidFill>
          </a:ln>
          <a:effectLst>
            <a:outerShdw blurRad="50800" dist="50800" dir="5400000" algn="ctr" rotWithShape="0">
              <a:srgbClr val="010A2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1" name="TextBox 56">
            <a:extLst>
              <a:ext uri="{FF2B5EF4-FFF2-40B4-BE49-F238E27FC236}">
                <a16:creationId xmlns:a16="http://schemas.microsoft.com/office/drawing/2014/main" id="{9A843A9F-BD37-40FF-91DA-58DED00A94DD}"/>
              </a:ext>
            </a:extLst>
          </p:cNvPr>
          <p:cNvSpPr txBox="1"/>
          <p:nvPr/>
        </p:nvSpPr>
        <p:spPr>
          <a:xfrm>
            <a:off x="10333920" y="3440150"/>
            <a:ext cx="1375036" cy="27871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600" b="1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Sales</a:t>
            </a:r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57">
            <a:extLst>
              <a:ext uri="{FF2B5EF4-FFF2-40B4-BE49-F238E27FC236}">
                <a16:creationId xmlns:a16="http://schemas.microsoft.com/office/drawing/2014/main" id="{94CED18A-981C-49F5-97CE-6C5AB4DB4BB7}"/>
              </a:ext>
            </a:extLst>
          </p:cNvPr>
          <p:cNvSpPr txBox="1"/>
          <p:nvPr/>
        </p:nvSpPr>
        <p:spPr>
          <a:xfrm>
            <a:off x="10309266" y="3727824"/>
            <a:ext cx="1436487" cy="42867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fld id="{CE7B17E9-6C6C-48FC-B5C3-38E8048B73E3}" type="TxLink">
              <a:rPr lang="en-US" sz="1800" b="1" i="0" u="none" strike="noStrike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indent="0" algn="ctr"/>
              <a:t>₹ 141</a:t>
            </a:fld>
            <a:endParaRPr lang="en-US" sz="1800" b="1" i="0" u="none" strike="noStrike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F1D1C4-2FF5-4E31-BF41-80024E3AF103}"/>
              </a:ext>
            </a:extLst>
          </p:cNvPr>
          <p:cNvSpPr/>
          <p:nvPr/>
        </p:nvSpPr>
        <p:spPr>
          <a:xfrm>
            <a:off x="10039425" y="4438517"/>
            <a:ext cx="1982723" cy="821046"/>
          </a:xfrm>
          <a:prstGeom prst="roundRect">
            <a:avLst>
              <a:gd name="adj" fmla="val 50000"/>
            </a:avLst>
          </a:prstGeom>
          <a:solidFill>
            <a:srgbClr val="010A26"/>
          </a:solidFill>
          <a:ln w="31750">
            <a:solidFill>
              <a:srgbClr val="B6D6F2"/>
            </a:solidFill>
          </a:ln>
          <a:effectLst>
            <a:outerShdw blurRad="50800" dist="50800" dir="5400000" algn="ctr" rotWithShape="0">
              <a:srgbClr val="010A2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4" name="TextBox 60">
            <a:extLst>
              <a:ext uri="{FF2B5EF4-FFF2-40B4-BE49-F238E27FC236}">
                <a16:creationId xmlns:a16="http://schemas.microsoft.com/office/drawing/2014/main" id="{6246CB77-231F-4A8D-8398-A76BB5A68266}"/>
              </a:ext>
            </a:extLst>
          </p:cNvPr>
          <p:cNvSpPr txBox="1"/>
          <p:nvPr/>
        </p:nvSpPr>
        <p:spPr>
          <a:xfrm>
            <a:off x="10338681" y="4486932"/>
            <a:ext cx="1369576" cy="27382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1600" b="1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Items</a:t>
            </a:r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61">
            <a:extLst>
              <a:ext uri="{FF2B5EF4-FFF2-40B4-BE49-F238E27FC236}">
                <a16:creationId xmlns:a16="http://schemas.microsoft.com/office/drawing/2014/main" id="{0A1BB06B-8D73-4A48-9E1A-DF059BB58987}"/>
              </a:ext>
            </a:extLst>
          </p:cNvPr>
          <p:cNvSpPr txBox="1"/>
          <p:nvPr/>
        </p:nvSpPr>
        <p:spPr>
          <a:xfrm>
            <a:off x="10288397" y="4794376"/>
            <a:ext cx="1436487" cy="43356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fld id="{A19B01DE-06A7-4A61-B4F8-DE1CE261FD34}" type="TxLink">
              <a:rPr lang="en-US" sz="1800" b="1" i="0" u="none" strike="noStrike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indent="0" algn="ctr"/>
              <a:t>1559</a:t>
            </a:fld>
            <a:endParaRPr lang="en-US" sz="1800" b="1" i="0" u="none" strike="noStrike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E16422F-211B-41D8-B381-C73EA79CBC8C}"/>
              </a:ext>
            </a:extLst>
          </p:cNvPr>
          <p:cNvSpPr/>
          <p:nvPr/>
        </p:nvSpPr>
        <p:spPr>
          <a:xfrm>
            <a:off x="10025529" y="5553107"/>
            <a:ext cx="1982723" cy="821046"/>
          </a:xfrm>
          <a:prstGeom prst="roundRect">
            <a:avLst>
              <a:gd name="adj" fmla="val 50000"/>
            </a:avLst>
          </a:prstGeom>
          <a:solidFill>
            <a:srgbClr val="010A26"/>
          </a:solidFill>
          <a:ln w="31750">
            <a:solidFill>
              <a:srgbClr val="B6D6F2"/>
            </a:solidFill>
          </a:ln>
          <a:effectLst>
            <a:outerShdw blurRad="50800" dist="50800" dir="5400000" algn="ctr" rotWithShape="0">
              <a:srgbClr val="010A2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7" name="TextBox 62">
            <a:extLst>
              <a:ext uri="{FF2B5EF4-FFF2-40B4-BE49-F238E27FC236}">
                <a16:creationId xmlns:a16="http://schemas.microsoft.com/office/drawing/2014/main" id="{247695FF-5F11-45DC-B7D8-53A91780542A}"/>
              </a:ext>
            </a:extLst>
          </p:cNvPr>
          <p:cNvSpPr txBox="1"/>
          <p:nvPr/>
        </p:nvSpPr>
        <p:spPr>
          <a:xfrm>
            <a:off x="10336622" y="5603160"/>
            <a:ext cx="1369576" cy="27382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600" b="1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Rating</a:t>
            </a:r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63">
            <a:extLst>
              <a:ext uri="{FF2B5EF4-FFF2-40B4-BE49-F238E27FC236}">
                <a16:creationId xmlns:a16="http://schemas.microsoft.com/office/drawing/2014/main" id="{3481EFF8-3BB2-43C1-9424-0959AEF0052F}"/>
              </a:ext>
            </a:extLst>
          </p:cNvPr>
          <p:cNvSpPr txBox="1"/>
          <p:nvPr/>
        </p:nvSpPr>
        <p:spPr>
          <a:xfrm>
            <a:off x="10299786" y="5890433"/>
            <a:ext cx="1436487" cy="42867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fld id="{CE326D36-9FB6-48C4-92A5-35FFED4A7F32}" type="TxLink">
              <a:rPr lang="en-US" sz="1800" b="1" i="0" u="none" strike="noStrike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indent="0" algn="ctr"/>
              <a:t>3.921</a:t>
            </a:fld>
            <a:endParaRPr lang="en-US" sz="1800" b="1" i="0" u="none" strike="noStrike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7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397AD-910C-47B8-847E-E2CCEEF6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1" cy="10809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A4F82A-C9C2-46D8-A70C-0800F40D3F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440186"/>
            <a:ext cx="10587901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provided a comprehensive overview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Blinkit’s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 using key performance indicators, granular breakdowns, and visualizations.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that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strong overall sales activity, consistent customer satisfaction, and clear patterns across product attributes and outlet characteristics.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metrics such as total sales, average sales, number of items sold, and average ratings, meaningful insights were generated to support data-driven decision making.</a:t>
            </a: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27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3F7D-F240-4DE1-9FE6-B33442C03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90657-048B-4C69-A2D8-EE8F9FCC1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27384"/>
            <a:ext cx="10390953" cy="46688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provides a view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performance, influenced by multiple operational and product-related factors.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KPIs such as total sales and average sales indicate steady demand across product categories, number of items sold and average ratings suggest a generally positive shopping experience.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of metrics across dimensions such as item fat content, outlet size, and location provides useful context for understanding its sales behavior.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across Excel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PowerBI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interactive insights, supporting data-driven decision-making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maintained a balanced performance between revenue generation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880156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74958-6570-4CED-94D6-D122725B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Faced and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CADEA-49AA-4F48-8CB7-D273F7A0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10348750" cy="376789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Formular Errors in Calculated Fields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Power BI and excel, errors occurred when creating calculated measures and columns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Debugged step by step and verified field types</a:t>
            </a:r>
          </a:p>
        </p:txBody>
      </p:sp>
    </p:spTree>
    <p:extLst>
      <p:ext uri="{BB962C8B-B14F-4D97-AF65-F5344CB8AC3E}">
        <p14:creationId xmlns:p14="http://schemas.microsoft.com/office/powerpoint/2010/main" val="1289080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309F97-5F04-4DE1-8ECC-EC4CF7B0D886}"/>
              </a:ext>
            </a:extLst>
          </p:cNvPr>
          <p:cNvSpPr txBox="1"/>
          <p:nvPr/>
        </p:nvSpPr>
        <p:spPr>
          <a:xfrm>
            <a:off x="647115" y="2897943"/>
            <a:ext cx="64992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278165769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570</TotalTime>
  <Words>419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Trebuchet MS</vt:lpstr>
      <vt:lpstr>Berlin</vt:lpstr>
      <vt:lpstr>PowerPoint Presentation</vt:lpstr>
      <vt:lpstr>Agenda</vt:lpstr>
      <vt:lpstr>Introduction and Objective</vt:lpstr>
      <vt:lpstr>Calculations</vt:lpstr>
      <vt:lpstr>KPIs</vt:lpstr>
      <vt:lpstr>Conclusion</vt:lpstr>
      <vt:lpstr>Inferences</vt:lpstr>
      <vt:lpstr>Challenge Faced and Solution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Esther Ambali</dc:creator>
  <cp:lastModifiedBy>Esther Ambali</cp:lastModifiedBy>
  <cp:revision>24</cp:revision>
  <dcterms:created xsi:type="dcterms:W3CDTF">2026-01-11T14:07:01Z</dcterms:created>
  <dcterms:modified xsi:type="dcterms:W3CDTF">2026-01-12T09:54:09Z</dcterms:modified>
</cp:coreProperties>
</file>